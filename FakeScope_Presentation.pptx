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D1528"/>
          </a:solidFill>
          <a:ln w="12700">
            <a:solidFill>
              <a:srgbClr val="0D15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777740"/>
            <a:ext cx="5029200" cy="36576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8229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FAKE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20040" y="16002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320040" y="260604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Fake Engagement Detection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Social Media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20040" y="4800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5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Behavioural Analytics Hackathon  |  Problem Statement 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94960" y="1371600"/>
            <a:ext cx="3383280" cy="749808"/>
          </a:xfrm>
          <a:prstGeom prst="rect">
            <a:avLst/>
          </a:prstGeom>
          <a:solidFill>
            <a:srgbClr val="111D35"/>
          </a:solidFill>
          <a:ln w="19050">
            <a:solidFill>
              <a:srgbClr val="FF33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394960" y="1371600"/>
            <a:ext cx="54864" cy="749808"/>
          </a:xfrm>
          <a:prstGeom prst="rect">
            <a:avLst/>
          </a:prstGeom>
          <a:solidFill>
            <a:srgbClr val="FF3355"/>
          </a:solidFill>
          <a:ln w="12700">
            <a:solidFill>
              <a:srgbClr val="FF33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14264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3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5778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 Probability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394960" y="2377440"/>
            <a:ext cx="3383280" cy="749808"/>
          </a:xfrm>
          <a:prstGeom prst="rect">
            <a:avLst/>
          </a:prstGeom>
          <a:solidFill>
            <a:srgbClr val="111D35"/>
          </a:solidFill>
          <a:ln w="19050">
            <a:solidFill>
              <a:srgbClr val="00E5B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94960" y="2377440"/>
            <a:ext cx="54864" cy="749808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243230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577840" y="2651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Authenticity Score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94960" y="3383280"/>
            <a:ext cx="3383280" cy="749808"/>
          </a:xfrm>
          <a:prstGeom prst="rect">
            <a:avLst/>
          </a:prstGeom>
          <a:solidFill>
            <a:srgbClr val="111D35"/>
          </a:solidFill>
          <a:ln w="19050">
            <a:solidFill>
              <a:srgbClr val="FFB8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3383280"/>
            <a:ext cx="54864" cy="7498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0" y="343814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577840" y="3657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Anomaly Explanation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166360" y="48006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Dataset: airt-ml/twitter-human-bots  ·  37,400 real accounts  ·  CC-BY-SA 3.0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91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91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Bot Engagement Problem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01168" y="1325880"/>
            <a:ext cx="5120640" cy="2286000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" y="1325880"/>
            <a:ext cx="54864" cy="2286000"/>
          </a:xfrm>
          <a:prstGeom prst="rect">
            <a:avLst/>
          </a:prstGeom>
          <a:solidFill>
            <a:srgbClr val="FF3355"/>
          </a:solidFill>
          <a:ln w="12700">
            <a:solidFill>
              <a:srgbClr val="FF3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444752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 media platforms experience fake engagement from bots and coordinated actors — distorting genuine behavioural patterns, misleading advertisers, and manipulating public discourse.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32120" y="1325880"/>
            <a:ext cx="3383280" cy="694944"/>
          </a:xfrm>
          <a:prstGeom prst="rect">
            <a:avLst/>
          </a:prstGeom>
          <a:solidFill>
            <a:srgbClr val="0D1528"/>
          </a:solidFill>
          <a:ln w="12700">
            <a:solidFill>
              <a:srgbClr val="00E5B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59612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08192" y="149047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Differentiate organic vs artificial engagement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32120" y="2130552"/>
            <a:ext cx="3383280" cy="694944"/>
          </a:xfrm>
          <a:prstGeom prst="rect">
            <a:avLst/>
          </a:prstGeom>
          <a:solidFill>
            <a:srgbClr val="0D1528"/>
          </a:solidFill>
          <a:ln w="12700">
            <a:solidFill>
              <a:srgbClr val="FFB8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596128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08192" y="229514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coordinated behavioural anomalies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532120" y="2935224"/>
            <a:ext cx="3383280" cy="694944"/>
          </a:xfrm>
          <a:prstGeom prst="rect">
            <a:avLst/>
          </a:prstGeom>
          <a:solidFill>
            <a:srgbClr val="0D1528"/>
          </a:solidFill>
          <a:ln w="12700">
            <a:solidFill>
              <a:srgbClr val="B06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96128" y="3026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6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108192" y="309981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 interpretable, model-driven outputs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532120" y="9875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 REQUIREMENTS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01168" y="3794760"/>
            <a:ext cx="8741664" cy="1005840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37,400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11480" y="4315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 ACCOUNTS ANALYSED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0604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606040" y="4315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BEHAVIOURAL FEATURES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0060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D9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800600" y="4315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PS-3 INDICATOR GROUPS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99516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06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995160" y="431596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 OUTPUTS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91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&amp; FEATURES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91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+ 33 Behavioural Features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01168" y="1325880"/>
            <a:ext cx="4114800" cy="182880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1325880"/>
            <a:ext cx="45720" cy="18288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4048" y="167335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airt-ml/twitter-human-bots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" y="20299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HuggingFace  ·  CC-BY-SA 3.0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84048" y="227685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37,400 real Twitter accounts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84048" y="252374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Labels: bot / human (account_type)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4048" y="277063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synthetic data required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26280" y="1325880"/>
            <a:ext cx="221284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26280" y="1325880"/>
            <a:ext cx="45720" cy="1188720"/>
          </a:xfrm>
          <a:prstGeom prst="rect">
            <a:avLst/>
          </a:prstGeom>
          <a:solidFill>
            <a:srgbClr val="FF3355"/>
          </a:solidFill>
          <a:ln w="12700">
            <a:solidFill>
              <a:srgbClr val="FF3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14173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3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⏱  TIMING REGULARITY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90872" y="1709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features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90872" y="1984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tweets_per_day · timing_regularity_score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58000" y="1325880"/>
            <a:ext cx="221284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0" y="1325880"/>
            <a:ext cx="45720" cy="118872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22592" y="14173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💥  BURST PATTERNS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1709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features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022592" y="19842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burst_index · engagement_paradox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26280" y="2697480"/>
            <a:ext cx="221284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2697480"/>
            <a:ext cx="45720" cy="118872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90872" y="2788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NETWORK PATTERNS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90872" y="3081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features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690872" y="33558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follower_friend_ratio · network_anomaly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58000" y="2697480"/>
            <a:ext cx="221284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58000" y="2697480"/>
            <a:ext cx="45720" cy="1188720"/>
          </a:xfrm>
          <a:prstGeom prst="rect">
            <a:avLst/>
          </a:prstGeom>
          <a:solidFill>
            <a:srgbClr val="B06FFF"/>
          </a:solidFill>
          <a:ln w="12700">
            <a:solidFill>
              <a:srgbClr val="B06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788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6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🗣  LINGUISTIC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022592" y="3081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features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22592" y="33558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screen_name_digit_ratio · profile_completeness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01168" y="4224528"/>
            <a:ext cx="8741664" cy="621792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" y="42793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ASSUMPTION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29184" y="44622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33 features are derived from account-level behavioural metadata — no tweet content, no NLP of text required. Pure behavioural signals.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91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91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— System Architecture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01168" y="1298448"/>
            <a:ext cx="1417320" cy="1188720"/>
          </a:xfrm>
          <a:prstGeom prst="rect">
            <a:avLst/>
          </a:prstGeom>
          <a:solidFill>
            <a:srgbClr val="0D1528"/>
          </a:solidFill>
          <a:ln w="19050">
            <a:solidFill>
              <a:srgbClr val="4D9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1298448"/>
            <a:ext cx="1417320" cy="54864"/>
          </a:xfrm>
          <a:prstGeom prst="rect">
            <a:avLst/>
          </a:prstGeom>
          <a:solidFill>
            <a:srgbClr val="4D9FFF"/>
          </a:solidFill>
          <a:ln w="12700">
            <a:solidFill>
              <a:srgbClr val="4D9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435608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4D9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DATA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55648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37,400 accounts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 raw columns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618488" y="1892808"/>
            <a:ext cx="338328" cy="0"/>
          </a:xfrm>
          <a:prstGeom prst="line">
            <a:avLst/>
          </a:prstGeom>
          <a:noFill/>
          <a:ln w="19050">
            <a:solidFill>
              <a:srgbClr val="7B8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56232" y="178308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7A8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56816" y="1298448"/>
            <a:ext cx="1417320" cy="1188720"/>
          </a:xfrm>
          <a:prstGeom prst="rect">
            <a:avLst/>
          </a:prstGeom>
          <a:solidFill>
            <a:srgbClr val="0D1528"/>
          </a:solidFill>
          <a:ln w="19050">
            <a:solidFill>
              <a:srgbClr val="00E5B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956816" y="1298448"/>
            <a:ext cx="1417320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1435608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 ENG.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29968" y="1755648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33 behavioural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features derived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74136" y="1892808"/>
            <a:ext cx="338328" cy="0"/>
          </a:xfrm>
          <a:prstGeom prst="line">
            <a:avLst/>
          </a:prstGeom>
          <a:noFill/>
          <a:ln w="19050">
            <a:solidFill>
              <a:srgbClr val="7B87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178308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7A8"/>
                </a:solidFill>
              </a:rPr>
              <a:t>▶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12464" y="1298448"/>
            <a:ext cx="1417320" cy="1188720"/>
          </a:xfrm>
          <a:prstGeom prst="rect">
            <a:avLst/>
          </a:prstGeom>
          <a:solidFill>
            <a:srgbClr val="0D1528"/>
          </a:solidFill>
          <a:ln w="19050">
            <a:solidFill>
              <a:srgbClr val="00E5B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712464" y="1298448"/>
            <a:ext cx="1417320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85616" y="1435608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RF CLASSIFIER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85616" y="1755648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300 trees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Balanced weights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29784" y="1892808"/>
            <a:ext cx="338328" cy="0"/>
          </a:xfrm>
          <a:prstGeom prst="line">
            <a:avLst/>
          </a:prstGeom>
          <a:noFill/>
          <a:ln w="19050">
            <a:solidFill>
              <a:srgbClr val="7B87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7528" y="178308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7A8"/>
                </a:solidFill>
              </a:rPr>
              <a:t>▶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68112" y="1298448"/>
            <a:ext cx="1417320" cy="1188720"/>
          </a:xfrm>
          <a:prstGeom prst="rect">
            <a:avLst/>
          </a:prstGeom>
          <a:solidFill>
            <a:srgbClr val="0D1528"/>
          </a:solidFill>
          <a:ln w="19050">
            <a:solidFill>
              <a:srgbClr val="FFB8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68112" y="1298448"/>
            <a:ext cx="1417320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41264" y="1435608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41264" y="1755648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 Prob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 Score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85432" y="1892808"/>
            <a:ext cx="338328" cy="0"/>
          </a:xfrm>
          <a:prstGeom prst="line">
            <a:avLst/>
          </a:prstGeom>
          <a:noFill/>
          <a:ln w="19050">
            <a:solidFill>
              <a:srgbClr val="7B87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3176" y="1783080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B87A8"/>
                </a:solidFill>
              </a:rPr>
              <a:t>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23760" y="1298448"/>
            <a:ext cx="1417320" cy="1188720"/>
          </a:xfrm>
          <a:prstGeom prst="rect">
            <a:avLst/>
          </a:prstGeom>
          <a:solidFill>
            <a:srgbClr val="0D1528"/>
          </a:solidFill>
          <a:ln w="19050">
            <a:solidFill>
              <a:srgbClr val="B06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223760" y="1298448"/>
            <a:ext cx="1417320" cy="54864"/>
          </a:xfrm>
          <a:prstGeom prst="rect">
            <a:avLst/>
          </a:prstGeom>
          <a:solidFill>
            <a:srgbClr val="B06FFF"/>
          </a:solidFill>
          <a:ln w="12700">
            <a:solidFill>
              <a:srgbClr val="B06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96912" y="1435608"/>
            <a:ext cx="1271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B06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EXPLANATION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296912" y="1755648"/>
            <a:ext cx="1271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Per-account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path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01168" y="2761488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DESIGN DECISIONS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01168" y="3035808"/>
            <a:ext cx="2834640" cy="1755648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01168" y="3035808"/>
            <a:ext cx="45720" cy="1755648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048" y="3127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Feature Scaling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84048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Trees are scale-invariant — mixed continuous + binary features work natively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172968" y="3035808"/>
            <a:ext cx="2834640" cy="1755648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172968" y="3035808"/>
            <a:ext cx="45720" cy="175564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55848" y="3127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class_weight='balanced'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355848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Corrects bot/human imbalance without oversampling noise into training data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144768" y="3035808"/>
            <a:ext cx="2834640" cy="1755648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44768" y="3035808"/>
            <a:ext cx="45720" cy="1755648"/>
          </a:xfrm>
          <a:prstGeom prst="rect">
            <a:avLst/>
          </a:prstGeom>
          <a:solidFill>
            <a:srgbClr val="B06FFF"/>
          </a:solidFill>
          <a:ln w="12700">
            <a:solidFill>
              <a:srgbClr val="B06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27648" y="312724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6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Path Traversal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327648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Per-account explanation: tracks each feature's probability shift across 300 trees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91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91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Performance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01168" y="1298448"/>
            <a:ext cx="161848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1298448"/>
            <a:ext cx="1618488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371600"/>
            <a:ext cx="1472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88.68%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74320" y="2194560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01952" y="1298448"/>
            <a:ext cx="161848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1952" y="1298448"/>
            <a:ext cx="1618488" cy="54864"/>
          </a:xfrm>
          <a:prstGeom prst="rect">
            <a:avLst/>
          </a:prstGeom>
          <a:solidFill>
            <a:srgbClr val="4D9FFF"/>
          </a:solidFill>
          <a:ln w="12700">
            <a:solidFill>
              <a:srgbClr val="4D9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75104" y="1371600"/>
            <a:ext cx="1472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D9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85.05%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975104" y="2194560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PRECISION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02736" y="1298448"/>
            <a:ext cx="161848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02736" y="1298448"/>
            <a:ext cx="1618488" cy="54864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5888" y="1371600"/>
            <a:ext cx="1472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79.92%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675888" y="2194560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303520" y="1298448"/>
            <a:ext cx="161848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303520" y="1298448"/>
            <a:ext cx="1618488" cy="54864"/>
          </a:xfrm>
          <a:prstGeom prst="rect">
            <a:avLst/>
          </a:prstGeom>
          <a:solidFill>
            <a:srgbClr val="B06FFF"/>
          </a:solidFill>
          <a:ln w="12700">
            <a:solidFill>
              <a:srgbClr val="B06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6672" y="1371600"/>
            <a:ext cx="1472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06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82.41%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376672" y="2194560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 SCORE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004304" y="1298448"/>
            <a:ext cx="1618488" cy="11887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004304" y="1298448"/>
            <a:ext cx="1618488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77456" y="1371600"/>
            <a:ext cx="1472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0.9399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077456" y="2194560"/>
            <a:ext cx="1472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 AUC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01168" y="2651760"/>
            <a:ext cx="8741664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715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5-FOLD CROSS-VALIDATION AUC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0" y="2688336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0.9399  ±  0.0024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201168" y="3291840"/>
            <a:ext cx="8741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 Validated on held-out 20% test set  ·  5-Fold CV AUC: 0.9399 ± 0.0024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1168" y="3639312"/>
            <a:ext cx="4251960" cy="137160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01168" y="3639312"/>
            <a:ext cx="45720" cy="1371600"/>
          </a:xfrm>
          <a:prstGeom prst="rect">
            <a:avLst/>
          </a:prstGeom>
          <a:solidFill>
            <a:srgbClr val="FF3355"/>
          </a:solidFill>
          <a:ln w="12700">
            <a:solidFill>
              <a:srgbClr val="FF33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" y="37307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33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F1 over Accuracy?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84048" y="40416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70% of accounts are human, a naive classifier scores 70% accuracy by always predicting human. F1 penalises this — it requires catching actual bots.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663440" y="3639312"/>
            <a:ext cx="4251960" cy="137160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639312"/>
            <a:ext cx="45720" cy="1371600"/>
          </a:xfrm>
          <a:prstGeom prst="rect">
            <a:avLst/>
          </a:prstGeom>
          <a:solidFill>
            <a:srgbClr val="4D9FFF"/>
          </a:solidFill>
          <a:ln w="12700">
            <a:solidFill>
              <a:srgbClr val="4D9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73075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9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ROC AUC?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40416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Threshold-independent measure of discrimination. Shows the model can rank bots above humans at every possible sensitivity level.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91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BEHAVIOURAL INSIGHTS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91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Key Insights from 37,400 Real Accounts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01168" y="1298448"/>
            <a:ext cx="2834640" cy="16459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1298448"/>
            <a:ext cx="45720" cy="1645920"/>
          </a:xfrm>
          <a:prstGeom prst="rect">
            <a:avLst/>
          </a:prstGeom>
          <a:solidFill>
            <a:srgbClr val="FF3355"/>
          </a:solidFill>
          <a:ln w="12700">
            <a:solidFill>
              <a:srgbClr val="FF33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8988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33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" y="1755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Superhuman Posting Rate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0574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Bots post 50-200+/day. Timing regularity score 10-100x above organic baseline.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72968" y="1298448"/>
            <a:ext cx="2834640" cy="16459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72968" y="1298448"/>
            <a:ext cx="45720" cy="164592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38988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337560" y="1755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Engagement Paradox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0574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Many followers, zero likes given. Both the account and its followers are fake.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44768" y="1298448"/>
            <a:ext cx="2834640" cy="16459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44768" y="1298448"/>
            <a:ext cx="45720" cy="1645920"/>
          </a:xfrm>
          <a:prstGeom prst="rect">
            <a:avLst/>
          </a:prstGeom>
          <a:solidFill>
            <a:srgbClr val="4D9FFF"/>
          </a:solidFill>
          <a:ln w="12700">
            <a:solidFill>
              <a:srgbClr val="4D9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38988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D9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309360" y="175564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 Fame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20574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account (&lt;30 days) with 1,000+ followers = manufactured audience.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" y="3081528"/>
            <a:ext cx="2834640" cy="16459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01168" y="3081528"/>
            <a:ext cx="45720" cy="1645920"/>
          </a:xfrm>
          <a:prstGeom prst="rect">
            <a:avLst/>
          </a:prstGeom>
          <a:solidFill>
            <a:srgbClr val="B06FFF"/>
          </a:solidFill>
          <a:ln w="12700">
            <a:solidFill>
              <a:srgbClr val="B06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17296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6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365760" y="35387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Profile Incompleteness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384048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Completeness score &lt;2/5: no bio, default pic, default theme. Bots skip setup.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172968" y="3081528"/>
            <a:ext cx="2834640" cy="16459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72968" y="3081528"/>
            <a:ext cx="45720" cy="164592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317296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3337560" y="35387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Username Bot Pattern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337560" y="384048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 ratio &gt;0.4 in username: 'user_48291847'. Human names use words, not digits.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44768" y="3081528"/>
            <a:ext cx="2834640" cy="164592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144768" y="3081528"/>
            <a:ext cx="45720" cy="164592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317296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309360" y="353872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Asymmetry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309360" y="384048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Following &gt;2,000 accounts, follower ratio &lt;0.1. Coordinated follow-spam scheme.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91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PRACTICAL IMPACT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91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Real-World Applications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01168" y="1298448"/>
            <a:ext cx="4251960" cy="160020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1298448"/>
            <a:ext cx="45720" cy="16002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40817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🛡  Platform Trust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84048" y="1810512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Proactively remove bot networks before they amplify misinformation or spam. Scale to millions of accounts with low compute cost.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98448"/>
            <a:ext cx="4251960" cy="160020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298448"/>
            <a:ext cx="45720" cy="1600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40817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📢  Advertiser Protection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46320" y="1810512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Bot-inflated metrics mislead brands. Authenticity Score gives verifiable organic reach — advertisers pay for real engagement.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01168" y="3081528"/>
            <a:ext cx="4251960" cy="160020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01168" y="3081528"/>
            <a:ext cx="45720" cy="1600200"/>
          </a:xfrm>
          <a:prstGeom prst="rect">
            <a:avLst/>
          </a:prstGeom>
          <a:solidFill>
            <a:srgbClr val="FF3355"/>
          </a:solidFill>
          <a:ln w="12700">
            <a:solidFill>
              <a:srgbClr val="FF33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19125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3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🗳  Election Integrity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84048" y="3593592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Coordinated bot campaigns artificially amplify political content, skewing public perception before it can be corrected.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081528"/>
            <a:ext cx="4251960" cy="1600200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081528"/>
            <a:ext cx="45720" cy="1600200"/>
          </a:xfrm>
          <a:prstGeom prst="rect">
            <a:avLst/>
          </a:prstGeom>
          <a:solidFill>
            <a:srgbClr val="B06FFF"/>
          </a:solidFill>
          <a:ln w="12700">
            <a:solidFill>
              <a:srgbClr val="B06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19125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🔍  Transparent AI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46320" y="3593592"/>
            <a:ext cx="3886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Per-account explanation engine makes every decision auditable. Critical for ethical deployment and regulatory compliance.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" y="0"/>
            <a:ext cx="9089136" cy="566928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9144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FUTURE SCOPE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914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01168" y="71323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01168" y="1298448"/>
            <a:ext cx="54864" cy="749808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1298448"/>
            <a:ext cx="5577840" cy="749808"/>
          </a:xfrm>
          <a:prstGeom prst="rect">
            <a:avLst/>
          </a:prstGeom>
          <a:solidFill>
            <a:srgbClr val="0D1528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35331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04672" y="135331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Tweet Content NLP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04672" y="16184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 text-based features — sentiment, topic consistency, linguistic entropy — to detect content bots that mimic human posting patterns.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" y="2203704"/>
            <a:ext cx="54864" cy="749808"/>
          </a:xfrm>
          <a:prstGeom prst="rect">
            <a:avLst/>
          </a:prstGeom>
          <a:solidFill>
            <a:srgbClr val="4D9FFF"/>
          </a:solidFill>
          <a:ln w="12700">
            <a:solidFill>
              <a:srgbClr val="4D9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2203704"/>
            <a:ext cx="5577840" cy="749808"/>
          </a:xfrm>
          <a:prstGeom prst="rect">
            <a:avLst/>
          </a:prstGeom>
          <a:solidFill>
            <a:srgbClr val="0D1528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22585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D9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04672" y="2258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Temporal Behaviour Analysis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4672" y="25237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how behaviour evolves over time. Bots often start dormant and spike during events — time-series models can catch this.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1168" y="3108960"/>
            <a:ext cx="54864" cy="7498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" y="3108960"/>
            <a:ext cx="5577840" cy="749808"/>
          </a:xfrm>
          <a:prstGeom prst="rect">
            <a:avLst/>
          </a:prstGeom>
          <a:solidFill>
            <a:srgbClr val="0D1528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316382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4672" y="316382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 Network Detection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429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account interaction graphs. Coordinated networks leave graph-level signatures that individual account models miss entirely.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" y="4014216"/>
            <a:ext cx="54864" cy="749808"/>
          </a:xfrm>
          <a:prstGeom prst="rect">
            <a:avLst/>
          </a:prstGeom>
          <a:solidFill>
            <a:srgbClr val="B06FFF"/>
          </a:solidFill>
          <a:ln w="12700">
            <a:solidFill>
              <a:srgbClr val="B06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4014216"/>
            <a:ext cx="5577840" cy="749808"/>
          </a:xfrm>
          <a:prstGeom prst="rect">
            <a:avLst/>
          </a:prstGeom>
          <a:solidFill>
            <a:srgbClr val="0D1528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406908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6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0690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Multi-Platform Extension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4672" y="43342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 FakeScope beyond Twitter to Instagram, YouTube, and Reddit using platform-agnostic behavioural feature engineering.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35040" y="1298448"/>
            <a:ext cx="2834640" cy="3584448"/>
          </a:xfrm>
          <a:prstGeom prst="rect">
            <a:avLst/>
          </a:prstGeom>
          <a:solidFill>
            <a:srgbClr val="0D1528"/>
          </a:solidFill>
          <a:ln w="9525">
            <a:solidFill>
              <a:srgbClr val="1E2D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35040" y="1298448"/>
            <a:ext cx="45720" cy="3584448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0" y="1417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CURRENT</a:t>
            </a:r>
            <a:endParaRPr lang="en-US" sz="1000" dirty="0"/>
          </a:p>
          <a:p>
            <a:pPr indent="0" marL="0">
              <a:buNone/>
            </a:pPr>
            <a:r>
              <a:rPr lang="en-US" sz="1000" b="1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STRENGTHS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9385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Real dataset (37,400 accounts)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226771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33 behavioural features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0" y="259689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Per-account explanations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17920" y="29260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Streamlit dashboard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17920" y="32552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5-Fold CV validated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17920" y="35844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  All PS-3 outputs met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D35"/>
          </a:solidFill>
          <a:ln w="12700">
            <a:solidFill>
              <a:srgbClr val="111D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97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FAKESCOPE  |  PS-3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E5B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B8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Behavioural Analytics Hackathon  ·  Problem Statement 3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383280"/>
            <a:ext cx="2514600" cy="868680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383280"/>
            <a:ext cx="2514600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3474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41248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37,400 Real Accounts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74720" y="3383280"/>
            <a:ext cx="2514600" cy="868680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0" y="3383280"/>
            <a:ext cx="2514600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84448" y="3474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584448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Forest · 33 Features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383280"/>
            <a:ext cx="2514600" cy="868680"/>
          </a:xfrm>
          <a:prstGeom prst="rect">
            <a:avLst/>
          </a:prstGeom>
          <a:solidFill>
            <a:srgbClr val="111D35"/>
          </a:solidFill>
          <a:ln w="12700">
            <a:solidFill>
              <a:srgbClr val="1E2D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3383280"/>
            <a:ext cx="2514600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27648" y="3474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0E5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327648" y="37124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 Prob · Auth Score · Explanation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4553712"/>
            <a:ext cx="9144000" cy="54864"/>
          </a:xfrm>
          <a:prstGeom prst="rect">
            <a:avLst/>
          </a:prstGeom>
          <a:solidFill>
            <a:srgbClr val="00E5B0"/>
          </a:solidFill>
          <a:ln w="12700">
            <a:solidFill>
              <a:srgbClr val="00E5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4608576"/>
            <a:ext cx="9144000" cy="534924"/>
          </a:xfrm>
          <a:prstGeom prst="rect">
            <a:avLst/>
          </a:prstGeom>
          <a:solidFill>
            <a:srgbClr val="111D35"/>
          </a:solidFill>
          <a:ln w="12700">
            <a:solidFill>
              <a:srgbClr val="111D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6634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87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Dataset: airt-ml/twitter-human-bots  ·  HuggingFace  ·  CC-BY-SA 3.0  ·  Behavioural Analytics Hackathon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FakeScope — Fake Engagement Detection</dc:title>
  <dc:subject>PptxGenJS Presentation</dc:subject>
  <dc:creator>Behavioural Analytics Hackathon</dc:creator>
  <cp:lastModifiedBy>Behavioural Analytics Hackathon</cp:lastModifiedBy>
  <cp:revision>1</cp:revision>
  <dcterms:created xsi:type="dcterms:W3CDTF">2026-03-01T05:38:09Z</dcterms:created>
  <dcterms:modified xsi:type="dcterms:W3CDTF">2026-03-01T05:38:09Z</dcterms:modified>
</cp:coreProperties>
</file>