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5029200" cy="36576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" y="2606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Engagement Detection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Social Media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Behavioural Analytics Hackathon  |  Problem Statement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94960" y="1371600"/>
            <a:ext cx="3383280" cy="749808"/>
          </a:xfrm>
          <a:prstGeom prst="rect">
            <a:avLst/>
          </a:prstGeom>
          <a:solidFill>
            <a:srgbClr val="111D35"/>
          </a:solidFill>
          <a:ln w="19050">
            <a:solidFill>
              <a:srgbClr val="FF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371600"/>
            <a:ext cx="54864" cy="749808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4264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778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Probability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94960" y="2377440"/>
            <a:ext cx="3383280" cy="749808"/>
          </a:xfrm>
          <a:prstGeom prst="rect">
            <a:avLst/>
          </a:prstGeom>
          <a:solidFill>
            <a:srgbClr val="111D35"/>
          </a:solidFill>
          <a:ln w="19050">
            <a:solidFill>
              <a:srgbClr val="00E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377440"/>
            <a:ext cx="54864" cy="749808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432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7784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Authenticity Score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3383280"/>
            <a:ext cx="3383280" cy="749808"/>
          </a:xfrm>
          <a:prstGeom prst="rect">
            <a:avLst/>
          </a:prstGeom>
          <a:solidFill>
            <a:srgbClr val="111D35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3383280"/>
            <a:ext cx="54864" cy="7498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4381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778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Explanation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4800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 airt-ml/twitter-human-bots  ·  37,400 real accounts  ·  CC-BY-SA 3.0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FAKESCOPE  |  PS-3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Bot Engagement Problem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325880"/>
            <a:ext cx="5120640" cy="228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325880"/>
            <a:ext cx="54864" cy="228600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4475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platforms experience fake engagement from bots and coordinated actors — distorting genuine behavioural patterns, misleading advertisers, and manipulating public discourse.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32120" y="1325880"/>
            <a:ext cx="3383280" cy="694944"/>
          </a:xfrm>
          <a:prstGeom prst="rect">
            <a:avLst/>
          </a:prstGeom>
          <a:solidFill>
            <a:srgbClr val="0D1528"/>
          </a:solidFill>
          <a:ln w="12700">
            <a:solidFill>
              <a:srgbClr val="00E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9612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08192" y="14904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Differentiate organic vs artificial engagement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2130552"/>
            <a:ext cx="3383280" cy="694944"/>
          </a:xfrm>
          <a:prstGeom prst="rect">
            <a:avLst/>
          </a:prstGeom>
          <a:solidFill>
            <a:srgbClr val="0D1528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96128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08192" y="2295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coordinated behavioural anomalies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2935224"/>
            <a:ext cx="3383280" cy="694944"/>
          </a:xfrm>
          <a:prstGeom prst="rect">
            <a:avLst/>
          </a:prstGeom>
          <a:solidFill>
            <a:srgbClr val="0D1528"/>
          </a:solidFill>
          <a:ln w="12700">
            <a:solidFill>
              <a:srgbClr val="B0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96128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08192" y="30998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 interpretable, model-driven outputs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987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REQUIREMENTS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" y="3794760"/>
            <a:ext cx="8741664" cy="1005840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37,400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11480" y="4315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ACCOUNTS ANALYSED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606040" y="4315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BEHAVIOURAL FEATURES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9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00600" y="4315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PS-3 INDICATOR GROUPS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9516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995160" y="4315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OUTPUTS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&amp;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FAKESCOPE  |  PS-3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+ 33 Behavioural Features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325880"/>
            <a:ext cx="4114800" cy="182880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325880"/>
            <a:ext cx="45720" cy="18288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673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airt-ml/twitter-human-bots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" y="2029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HuggingFace  ·  CC-BY-SA 3.0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22768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37,400 real Twitter accounts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25237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Labels: bot / human (account_type)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" y="2770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synthetic data required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1325880"/>
            <a:ext cx="221284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1325880"/>
            <a:ext cx="45720" cy="1188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 TIMING REGULARITY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0872" y="1709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features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90872" y="1984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tweets_per_day · timing_regularity_score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0" y="1325880"/>
            <a:ext cx="221284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325880"/>
            <a:ext cx="45720" cy="1188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💥  BURST PATTERNS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22592" y="1709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features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22592" y="1984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burst_index · engagement_paradox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2697480"/>
            <a:ext cx="221284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2697480"/>
            <a:ext cx="45720" cy="11887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NETWORK PATTERNS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0872" y="3081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features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90872" y="3355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follower_friend_ratio · network_anomaly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2697480"/>
            <a:ext cx="221284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2697480"/>
            <a:ext cx="45720" cy="1188720"/>
          </a:xfrm>
          <a:prstGeom prst="rect">
            <a:avLst/>
          </a:prstGeom>
          <a:solidFill>
            <a:srgbClr val="B06FFF"/>
          </a:solidFill>
          <a:ln w="12700">
            <a:solidFill>
              <a:srgbClr val="B06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🗣  LINGUISTIC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22592" y="3081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features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22592" y="3355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screen_name_digit_ratio · profile_completeness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1168" y="4224528"/>
            <a:ext cx="8741664" cy="621792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4279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ASSUMPTION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9184" y="44622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33 features are derived from account-level behavioural metadata — no tweet content, no NLP of text required. Pure behavioural signals.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FAKESCOPE  |  PS-3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— System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1417320" cy="1188720"/>
          </a:xfrm>
          <a:prstGeom prst="rect">
            <a:avLst/>
          </a:prstGeom>
          <a:solidFill>
            <a:srgbClr val="0D1528"/>
          </a:solidFill>
          <a:ln w="1905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98448"/>
            <a:ext cx="1417320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3560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755648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37,400 accounts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raw 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18488" y="1892808"/>
            <a:ext cx="338328" cy="0"/>
          </a:xfrm>
          <a:prstGeom prst="line">
            <a:avLst/>
          </a:prstGeom>
          <a:noFill/>
          <a:ln w="19050">
            <a:solidFill>
              <a:srgbClr val="7B8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56232" y="178308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A8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56816" y="1298448"/>
            <a:ext cx="1417320" cy="1188720"/>
          </a:xfrm>
          <a:prstGeom prst="rect">
            <a:avLst/>
          </a:prstGeom>
          <a:solidFill>
            <a:srgbClr val="0D1528"/>
          </a:solidFill>
          <a:ln w="19050">
            <a:solidFill>
              <a:srgbClr val="00E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56816" y="1298448"/>
            <a:ext cx="1417320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43560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29968" y="1755648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 behavioural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derived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74136" y="1892808"/>
            <a:ext cx="338328" cy="0"/>
          </a:xfrm>
          <a:prstGeom prst="line">
            <a:avLst/>
          </a:prstGeom>
          <a:noFill/>
          <a:ln w="19050">
            <a:solidFill>
              <a:srgbClr val="7B8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78308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A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12464" y="1298448"/>
            <a:ext cx="1417320" cy="1188720"/>
          </a:xfrm>
          <a:prstGeom prst="rect">
            <a:avLst/>
          </a:prstGeom>
          <a:solidFill>
            <a:srgbClr val="0D1528"/>
          </a:solidFill>
          <a:ln w="19050">
            <a:solidFill>
              <a:srgbClr val="00E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1298448"/>
            <a:ext cx="1417320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43560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CLASSIFIER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85616" y="1755648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 trees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Balanced weights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9784" y="1892808"/>
            <a:ext cx="338328" cy="0"/>
          </a:xfrm>
          <a:prstGeom prst="line">
            <a:avLst/>
          </a:prstGeom>
          <a:noFill/>
          <a:ln w="19050">
            <a:solidFill>
              <a:srgbClr val="7B87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67528" y="178308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A8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68112" y="1298448"/>
            <a:ext cx="1417320" cy="1188720"/>
          </a:xfrm>
          <a:prstGeom prst="rect">
            <a:avLst/>
          </a:prstGeom>
          <a:solidFill>
            <a:srgbClr val="0D1528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68112" y="1298448"/>
            <a:ext cx="14173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143560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41264" y="1755648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Prob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85432" y="1892808"/>
            <a:ext cx="338328" cy="0"/>
          </a:xfrm>
          <a:prstGeom prst="line">
            <a:avLst/>
          </a:prstGeom>
          <a:noFill/>
          <a:ln w="19050">
            <a:solidFill>
              <a:srgbClr val="7B8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23176" y="178308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A8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0" y="1298448"/>
            <a:ext cx="1417320" cy="1188720"/>
          </a:xfrm>
          <a:prstGeom prst="rect">
            <a:avLst/>
          </a:prstGeom>
          <a:solidFill>
            <a:srgbClr val="0D1528"/>
          </a:solidFill>
          <a:ln w="19050">
            <a:solidFill>
              <a:srgbClr val="B06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23760" y="1298448"/>
            <a:ext cx="1417320" cy="54864"/>
          </a:xfrm>
          <a:prstGeom prst="rect">
            <a:avLst/>
          </a:prstGeom>
          <a:solidFill>
            <a:srgbClr val="B06FFF"/>
          </a:solidFill>
          <a:ln w="12700">
            <a:solidFill>
              <a:srgbClr val="B06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143560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0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EXPLANATION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96912" y="1755648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path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" y="2761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 DECISIONS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1168" y="3035808"/>
            <a:ext cx="2834640" cy="1755648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01168" y="3035808"/>
            <a:ext cx="45720" cy="1755648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Feature Scaling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4048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Trees are scale-invariant — mixed continuous + binary features work natively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172968" y="3035808"/>
            <a:ext cx="2834640" cy="1755648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72968" y="3035808"/>
            <a:ext cx="45720" cy="175564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class_weight='balanced'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355848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Corrects bot/human imbalance without oversampling noise into training data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44768" y="3035808"/>
            <a:ext cx="2834640" cy="1755648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44768" y="3035808"/>
            <a:ext cx="45720" cy="1755648"/>
          </a:xfrm>
          <a:prstGeom prst="rect">
            <a:avLst/>
          </a:prstGeom>
          <a:solidFill>
            <a:srgbClr val="B06FFF"/>
          </a:solidFill>
          <a:ln w="12700">
            <a:solidFill>
              <a:srgbClr val="B06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Path Traversal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27648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Per-account explanation: tracks each feature's probability shift across 300 trees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FAKESCOPE  |  PS-3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161848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98448"/>
            <a:ext cx="1618488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71600"/>
            <a:ext cx="1472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XX.X%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01952" y="1298448"/>
            <a:ext cx="161848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01952" y="1298448"/>
            <a:ext cx="1618488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1371600"/>
            <a:ext cx="1472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9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XX.X%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75104" y="21945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02736" y="1298448"/>
            <a:ext cx="161848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02736" y="1298448"/>
            <a:ext cx="1618488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1371600"/>
            <a:ext cx="1472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XX.X%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75888" y="21945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298448"/>
            <a:ext cx="161848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298448"/>
            <a:ext cx="1618488" cy="54864"/>
          </a:xfrm>
          <a:prstGeom prst="rect">
            <a:avLst/>
          </a:prstGeom>
          <a:solidFill>
            <a:srgbClr val="B06FFF"/>
          </a:solidFill>
          <a:ln w="12700">
            <a:solidFill>
              <a:srgbClr val="B06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1371600"/>
            <a:ext cx="1472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XX.X%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376672" y="21945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SCORE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04304" y="1298448"/>
            <a:ext cx="1618488" cy="11887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04304" y="1298448"/>
            <a:ext cx="1618488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1371600"/>
            <a:ext cx="1472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X.XXX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077456" y="21945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 AUC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" y="2651760"/>
            <a:ext cx="8741664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5-FOLD CROSS-VALIDATION AUC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26883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E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X.XXX  ±  X.XXX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01168" y="3291840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Replace XX.X% values with actual results from Colab notebook before submission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" y="3639312"/>
            <a:ext cx="4251960" cy="137160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1168" y="3639312"/>
            <a:ext cx="45720" cy="137160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7307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F1 over Accuracy?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" y="404164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70% of accounts are human, a naive classifier scores 70% accuracy by always predicting human. F1 penalises this — it requires catching actual bots.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3639312"/>
            <a:ext cx="4251960" cy="137160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639312"/>
            <a:ext cx="45720" cy="137160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7307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ROC AUC?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404164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Threshold-independent measure of discrimination. Shows the model can rank bots above humans at every possible sensitivity level.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BEHAVIOURAL INSIGHTS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FAKESCOPE  |  PS-3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Key Insights from 37,400 Real Accounts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2834640" cy="16459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98448"/>
            <a:ext cx="45720" cy="16459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898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Superhuman Posting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Bots post 50-200+/day. Timing regularity score 10-100x above organic baseline.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298448"/>
            <a:ext cx="2834640" cy="16459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298448"/>
            <a:ext cx="45720" cy="16459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898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37560" y="1755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Paradox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followers, zero likes given. Both the account and its followers are fake.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44768" y="1298448"/>
            <a:ext cx="2834640" cy="16459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298448"/>
            <a:ext cx="45720" cy="164592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3898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1755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Sudden Fame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account (&lt;30 days) with 1,000+ followers = manufactured audience.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" y="3081528"/>
            <a:ext cx="2834640" cy="16459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081528"/>
            <a:ext cx="45720" cy="1645920"/>
          </a:xfrm>
          <a:prstGeom prst="rect">
            <a:avLst/>
          </a:prstGeom>
          <a:solidFill>
            <a:srgbClr val="B06FFF"/>
          </a:solidFill>
          <a:ln w="12700">
            <a:solidFill>
              <a:srgbClr val="B06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729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5760" y="3538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Incompleteness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8404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Completeness score &lt;2/5: no bio, default pic, default theme. Bots skip setup.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72968" y="3081528"/>
            <a:ext cx="2834640" cy="16459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72968" y="3081528"/>
            <a:ext cx="45720" cy="16459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1729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337560" y="3538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Username Bot Pattern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38404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 ratio &gt;0.4 in username: 'user_48291847'. Human names use words, not digits.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44768" y="3081528"/>
            <a:ext cx="2834640" cy="164592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3081528"/>
            <a:ext cx="45720" cy="16459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1729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09360" y="3538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Asymmetry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38404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Following &gt;2,000 accounts, follower ratio &lt;0.1. Coordinated follow-spam scheme.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PRACTICAL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FAKESCOPE  |  PS-3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4251960" cy="160020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98448"/>
            <a:ext cx="45720" cy="16002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081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Platform Trust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Proactively remove bot networks before they amplify misinformation or spam. Scale to millions of accounts with low compute cost.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251960" cy="160020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98448"/>
            <a:ext cx="45720" cy="16002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081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📢  Advertiser Protection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8105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Bot-inflated metrics mislead brands. Authenticity Score gives verifiable organic reach — advertisers pay for real engagement.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3081528"/>
            <a:ext cx="4251960" cy="160020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3081528"/>
            <a:ext cx="45720" cy="160020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9125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🗳  Election Integrity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" y="359359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Coordinated bot campaigns artificially amplify political content, skewing public perception before it can be corrected.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81528"/>
            <a:ext cx="4251960" cy="1600200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81528"/>
            <a:ext cx="45720" cy="1600200"/>
          </a:xfrm>
          <a:prstGeom prst="rect">
            <a:avLst/>
          </a:prstGeom>
          <a:solidFill>
            <a:srgbClr val="B06FFF"/>
          </a:solidFill>
          <a:ln w="12700">
            <a:solidFill>
              <a:srgbClr val="B06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9125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Transparent AI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59359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Per-account explanation engine makes every decision auditable. Critical for ethical deployment and regulatory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FAKESCOPE  |  PS-3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54864" cy="749808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298448"/>
            <a:ext cx="5577840" cy="749808"/>
          </a:xfrm>
          <a:prstGeom prst="rect">
            <a:avLst/>
          </a:prstGeom>
          <a:solidFill>
            <a:srgbClr val="0D1528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533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3533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Tweet Content NLP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618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text-based features — sentiment, topic consistency, linguistic entropy — to detect content bots that mimic human posting patterns.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" y="2203704"/>
            <a:ext cx="54864" cy="749808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203704"/>
            <a:ext cx="5577840" cy="749808"/>
          </a:xfrm>
          <a:prstGeom prst="rect">
            <a:avLst/>
          </a:prstGeom>
          <a:solidFill>
            <a:srgbClr val="0D1528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585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2258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Behaviour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5237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how behaviour evolves over time. Bots often start dormant and spike during events — time-series models can catch this.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3108960"/>
            <a:ext cx="54864" cy="7498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108960"/>
            <a:ext cx="5577840" cy="749808"/>
          </a:xfrm>
          <a:prstGeom prst="rect">
            <a:avLst/>
          </a:prstGeom>
          <a:solidFill>
            <a:srgbClr val="0D1528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6382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31638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Network Detection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account interaction graphs. Coordinated networks leave graph-level signatures that individual account models miss entirely.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" y="4014216"/>
            <a:ext cx="54864" cy="749808"/>
          </a:xfrm>
          <a:prstGeom prst="rect">
            <a:avLst/>
          </a:prstGeom>
          <a:solidFill>
            <a:srgbClr val="B06FFF"/>
          </a:solidFill>
          <a:ln w="12700">
            <a:solidFill>
              <a:srgbClr val="B06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4014216"/>
            <a:ext cx="5577840" cy="749808"/>
          </a:xfrm>
          <a:prstGeom prst="rect">
            <a:avLst/>
          </a:prstGeom>
          <a:solidFill>
            <a:srgbClr val="0D1528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0690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0690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Multi-Platform Extension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43342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FakeScope beyond Twitter to Instagram, YouTube, and Reddit using platform-agnostic behavioural feature engineering.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1298448"/>
            <a:ext cx="2834640" cy="3584448"/>
          </a:xfrm>
          <a:prstGeom prst="rect">
            <a:avLst/>
          </a:prstGeom>
          <a:solidFill>
            <a:srgbClr val="0D1528"/>
          </a:solidFill>
          <a:ln w="9525">
            <a:solidFill>
              <a:srgbClr val="1E2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298448"/>
            <a:ext cx="45720" cy="3584448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Real dataset (37,400 accounts)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267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33 behavioural 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25968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Per-account explanations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2926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Streamlit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2552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5-Fold CV validated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584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All PS-3 outputs met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FAKESCOPE  |  PS-3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E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Behavioural Analytics Hackathon  ·  Problem Statement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514600" cy="868680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383280"/>
            <a:ext cx="2514600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37,400 Real Accounts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3383280"/>
            <a:ext cx="2514600" cy="868680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3383280"/>
            <a:ext cx="2514600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84448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· 33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2514600" cy="868680"/>
          </a:xfrm>
          <a:prstGeom prst="rect">
            <a:avLst/>
          </a:prstGeom>
          <a:solidFill>
            <a:srgbClr val="11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383280"/>
            <a:ext cx="2514600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27648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Prob · Auth Score · Explanation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553712"/>
            <a:ext cx="9144000" cy="54864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 airt-ml/twitter-human-bots  ·  HuggingFace  ·  CC-BY-SA 3.0  ·  Behavioural Analytics Hackathon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FakeScope — Fake Engagement Detection</dc:title>
  <dc:subject>PptxGenJS Presentation</dc:subject>
  <dc:creator>Behavioural Analytics Hackathon</dc:creator>
  <cp:lastModifiedBy>Behavioural Analytics Hackathon</cp:lastModifiedBy>
  <cp:revision>1</cp:revision>
  <dcterms:created xsi:type="dcterms:W3CDTF">2026-02-28T22:23:48Z</dcterms:created>
  <dcterms:modified xsi:type="dcterms:W3CDTF">2026-02-28T22:23:48Z</dcterms:modified>
</cp:coreProperties>
</file>